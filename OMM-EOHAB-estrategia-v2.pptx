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0"/>
  </p:notesMasterIdLst>
  <p:sldIdLst>
    <p:sldId id="284" r:id="rId8"/>
    <p:sldId id="289" r:id="rId50"/>
    <p:sldId id="288" r:id="rId49"/>
    <p:sldId id="287" r:id="rId48"/>
    <p:sldId id="286" r:id="rId47"/>
    <p:sldId id="285" r:id="rId4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8F3808-4B71-A23C-1EEA-B17F239157E8}" name="Héctor Osmin Larreynaga Paz" initials="HL" userId="S::LP161642@alumno.udb.edu.sv::cc8606b0-586d-40e3-9773-0bf67c659e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1637" y="8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8/10/relationships/authors" Target="authors.xml"/><Relationship Id="rId46" Type="http://schemas.openxmlformats.org/officeDocument/2006/relationships/slide" Target="slides/slide6.xml"/><Relationship Id="rId47" Type="http://schemas.openxmlformats.org/officeDocument/2006/relationships/slide" Target="slides/slide5.xml"/><Relationship Id="rId48" Type="http://schemas.openxmlformats.org/officeDocument/2006/relationships/slide" Target="slides/slide4.xml"/><Relationship Id="rId49" Type="http://schemas.openxmlformats.org/officeDocument/2006/relationships/slide" Target="slides/slide3.xml"/><Relationship Id="rId5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4ACA8-9DD2-40BF-8531-509A3FB361AD}" type="datetimeFigureOut">
              <a:rPr lang="es-SV" smtClean="0"/>
              <a:t>15/8/2026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B2369-E994-4276-8B45-3B3FE898618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8305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separando lo verificado de lo pendiente. Mencionar CAREY antes de que lo mencione el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 aquí es proyección: son trabajos publicados y perfiles declarados. Cerrar señalando la restricción de dedicación.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matriz es el argumento central: el bus se hereda del globo, pero la columna orbital está casi vacía.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Responde directamente a la pregunta de si conviene depender de una empresa local: no para estas brechas.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a la propuesta de ceder payload y OBC: no. Las compuertas evitan comprometer un vuelo antes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 de trabajo. Ninguna cifra del deck proviene de estimación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650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10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14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18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22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26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230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73455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238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74255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246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75055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254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A797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A797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A797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650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10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14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18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22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26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230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73455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650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10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14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18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22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2656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230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73455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23849" y="14267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C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000" y="25252"/>
            <a:ext cx="4394098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A797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1666" y="3347568"/>
            <a:ext cx="120142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Del globo al nanosatélite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8638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30000"/>
                </a:solidFill>
                <a:latin typeface="Arial Narrow"/>
              </a:rPr>
              <a:t>Qué hay hoy, qué falta, y qué decide el paso siguiente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" y="11155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A7A7A"/>
                </a:solidFill>
                <a:latin typeface="Arial"/>
              </a:rPr>
              <a:t>El equipo tiene una misión de globo ejecutada y producción arbitrada en cuatro congresos IEEE. No tiene control de actitud, ni ensayo ambiental en el país, ni vía de lanzamiento. Esta presentación separa lo verificado de lo pendiente y fija las condiciones para avanzar.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1609344"/>
            <a:ext cx="621792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" y="16642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 Narrow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" y="1874519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trabajos en congresos</a:t>
            </a:r>
          </a:p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IEEE, 2022–2025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1609344"/>
            <a:ext cx="621792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16642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 Narrow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7" y="1874519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vuelo de globo</a:t>
            </a:r>
          </a:p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ejecutado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1609344"/>
            <a:ext cx="621792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27048" y="16642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 Narrow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7048" y="1874519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integrantes: 4 locales</a:t>
            </a:r>
          </a:p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y 2 asesores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48840" y="1609344"/>
            <a:ext cx="621792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12848" y="16642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 Narrow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2848" y="1874519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ventana de postulación</a:t>
            </a:r>
          </a:p>
          <a:p>
            <a:pPr algn="l">
              <a:lnSpc>
                <a:spcPct val="100000"/>
              </a:lnSpc>
            </a:pPr>
            <a:r>
              <a:rPr sz="450" b="0">
                <a:solidFill>
                  <a:srgbClr val="7A7A7A"/>
                </a:solidFill>
                <a:latin typeface="Arial"/>
              </a:rPr>
              <a:t>al año: septiembre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2212848"/>
            <a:ext cx="2697480" cy="603504"/>
          </a:xfrm>
          <a:prstGeom prst="rect">
            <a:avLst/>
          </a:prstGeom>
          <a:solidFill>
            <a:srgbClr val="FBEAEA"/>
          </a:solidFill>
          <a:ln w="76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2286000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80">
                <a:solidFill>
                  <a:srgbClr val="CC0000"/>
                </a:solidFill>
                <a:latin typeface="Arial"/>
              </a:rPr>
              <a:t>POSICIONAMIENTO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2414016"/>
            <a:ext cx="25237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El 10 de junio de 2026, UNOOSA y JAXA seleccionaron a Key Institute de El Salvador en la novena ronda de KiboCUBE para desarrollar el CubeSat CAREY. El primer satélite universitario del país ya tiene responsable: nuestra contribución no es la primicia, es la capa de datos y el segmento de tierra.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786384"/>
            <a:ext cx="1636776" cy="202996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80944" y="877824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60">
                <a:solidFill>
                  <a:srgbClr val="FF8A8A"/>
                </a:solidFill>
                <a:latin typeface="Arial"/>
              </a:rPr>
              <a:t>LO QUE PEDIMOS DECIDIR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59859" y="877824"/>
            <a:ext cx="45720" cy="68580"/>
          </a:xfrm>
          <a:prstGeom prst="rect">
            <a:avLst/>
          </a:prstGeom>
          <a:noFill/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15968" y="896112"/>
            <a:ext cx="36576" cy="32004"/>
          </a:xfrm>
          <a:prstGeom prst="rect">
            <a:avLst/>
          </a:prstGeom>
          <a:noFill/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12894" y="896112"/>
            <a:ext cx="36576" cy="32004"/>
          </a:xfrm>
          <a:prstGeom prst="rect">
            <a:avLst/>
          </a:prstGeom>
          <a:noFill/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382719" y="859536"/>
            <a:ext cx="0" cy="18288"/>
          </a:xfrm>
          <a:prstGeom prst="line">
            <a:avLst/>
          </a:prstGeom>
          <a:ln w="63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80944" y="1078992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63824" y="107899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E8E8E8"/>
                </a:solidFill>
                <a:latin typeface="Arial"/>
              </a:rPr>
              <a:t>Aprobar el microproyecto del ciclo de septiembre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80944" y="1417319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63824" y="1417319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E8E8E8"/>
                </a:solidFill>
                <a:latin typeface="Arial"/>
              </a:rPr>
              <a:t>Avalar convenios con las instituciones usuarias del dato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80944" y="175564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63824" y="17556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E8E8E8"/>
                </a:solidFill>
                <a:latin typeface="Arial"/>
              </a:rPr>
              <a:t>Reconocer horas de investigación y asignar tesistas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80944" y="2093976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63824" y="209397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E8E8E8"/>
                </a:solidFill>
                <a:latin typeface="Arial"/>
              </a:rPr>
              <a:t>Avalar la postulación a EPICS in IEEE, convocatoria de octubre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0944" y="2432304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63824" y="243230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>
                <a:solidFill>
                  <a:srgbClr val="E8E8E8"/>
                </a:solidFill>
                <a:latin typeface="Arial"/>
              </a:rPr>
              <a:t>Avalar la gestión formal con Kyutech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" y="2926080"/>
            <a:ext cx="44256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Facultad de Aeronáutica · Observatorio Micro-Macro · Universidad Don Bosco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Estado verificable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680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80">
                <a:solidFill>
                  <a:srgbClr val="CC0000"/>
                </a:solidFill>
                <a:latin typeface="Arial"/>
              </a:rPr>
              <a:t>PRODUCCIÓN ARBITRADA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" y="914400"/>
            <a:ext cx="2395728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" y="941832"/>
            <a:ext cx="15544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TRABAJO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941832"/>
            <a:ext cx="5029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CONGRESO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941832"/>
            <a:ext cx="14630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0" b="1" spc="60">
                <a:solidFill>
                  <a:srgbClr val="7A7A7A"/>
                </a:solidFill>
                <a:latin typeface="Arial"/>
              </a:rPr>
              <a:t>AÑO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1051560"/>
            <a:ext cx="2395728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448" y="107899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Selección de antenas UHF para misión near-space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1078992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3A3A3A"/>
                </a:solidFill>
                <a:latin typeface="Arial"/>
              </a:rPr>
              <a:t>CONESCAPAN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1408" y="107899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1">
                <a:solidFill>
                  <a:srgbClr val="CC0000"/>
                </a:solidFill>
                <a:latin typeface="Arial"/>
              </a:rPr>
              <a:t>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" y="135331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Niveles de sombra en cultivo de café con segmentación y deep learning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83080" y="1353312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3A3A3A"/>
                </a:solidFill>
                <a:latin typeface="Arial"/>
              </a:rPr>
              <a:t>CONCAPAN XLI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21408" y="135331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1">
                <a:solidFill>
                  <a:srgbClr val="CC0000"/>
                </a:solidFill>
                <a:latin typeface="Arial"/>
              </a:rPr>
              <a:t>2023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" y="1600199"/>
            <a:ext cx="2395728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5448" y="1627631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Estimación de áreas de operación y parámetros ambientales para misiones HAB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1627631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3A3A3A"/>
                </a:solidFill>
                <a:latin typeface="Arial"/>
              </a:rPr>
              <a:t>CONCAPAN XLII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21408" y="1627631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1">
                <a:solidFill>
                  <a:srgbClr val="CC0000"/>
                </a:solidFill>
                <a:latin typeface="Arial"/>
              </a:rPr>
              <a:t>2024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" y="190195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Diseño y simulación de un EPS basado en COTS para misiones HAB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1901952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3A3A3A"/>
                </a:solidFill>
                <a:latin typeface="Arial"/>
              </a:rPr>
              <a:t>CONESCAPAN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190195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1">
                <a:solidFill>
                  <a:srgbClr val="CC0000"/>
                </a:solidFill>
                <a:latin typeface="Arial"/>
              </a:rPr>
              <a:t>2025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" y="2148840"/>
            <a:ext cx="2395728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5448" y="217627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50" b="0">
                <a:solidFill>
                  <a:srgbClr val="3A3A3A"/>
                </a:solidFill>
                <a:latin typeface="Arial"/>
              </a:rPr>
              <a:t>Efectos de ionización y actividad volcánica sobre LoRa en 915 MHz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2176272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3A3A3A"/>
                </a:solidFill>
                <a:latin typeface="Arial"/>
              </a:rPr>
              <a:t>CONESCAPAN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21408" y="217627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1">
                <a:solidFill>
                  <a:srgbClr val="CC0000"/>
                </a:solidFill>
                <a:latin typeface="Arial"/>
              </a:rPr>
              <a:t>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2542032"/>
            <a:ext cx="2395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Un vuelo de globo ejecutado con sensores y arquitectura inspirada en CubeSat 1U. Los DOI de cada trabajo se adjuntan al perfil del proyecto.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33472" y="7680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80">
                <a:solidFill>
                  <a:srgbClr val="CC0000"/>
                </a:solidFill>
                <a:latin typeface="Arial"/>
              </a:rPr>
              <a:t>EQUIPO Y FORMACIÓN DECLARADA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33472" y="914400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95097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Frida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1060704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Ing. Aeronáutica · systems engineering, UNLP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9936" y="950976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CC0000"/>
                </a:solidFill>
                <a:latin typeface="Arial"/>
              </a:rPr>
              <a:t>local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33472" y="1225296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126187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Byron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97480" y="1371600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Ing. Aeronáutica · simulación térmica y CFD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9936" y="1261872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CC0000"/>
                </a:solidFill>
                <a:latin typeface="Arial"/>
              </a:rPr>
              <a:t>local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33472" y="1536192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1572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Manuel Pleites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7480" y="1682496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Ing. Aeronáutica · modelado 3D, impresión 3D, FEMM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59936" y="1572768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CC0000"/>
                </a:solidFill>
                <a:latin typeface="Arial"/>
              </a:rPr>
              <a:t>local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33472" y="1847088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97480" y="188366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Josué Aldana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97480" y="1993392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Ing. Eléctrica · electrónica, protocolos, datos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59936" y="1883664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CC0000"/>
                </a:solidFill>
                <a:latin typeface="Arial"/>
              </a:rPr>
              <a:t>local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33472" y="2157984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97480" y="219456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Ali Barahona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7480" y="2304288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Máster en nanosatélites, Kyutech · telemetría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59936" y="2194560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7A7A7A"/>
                </a:solidFill>
                <a:latin typeface="Arial"/>
              </a:rPr>
              <a:t>asesor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33472" y="2468880"/>
            <a:ext cx="188366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97480" y="250545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Fátima Durán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97480" y="2615184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Máster en electrical and space systems eng.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59936" y="2505456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" b="0">
                <a:solidFill>
                  <a:srgbClr val="7A7A7A"/>
                </a:solidFill>
                <a:latin typeface="Arial"/>
              </a:rPr>
              <a:t>asesora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33472" y="2834640"/>
            <a:ext cx="18836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CC0000"/>
                </a:solidFill>
                <a:latin typeface="Arial"/>
              </a:rPr>
              <a:t>Nadie del equipo trabaja a tiempo completo en el proyecto.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Qué está hecho, por subsistema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8638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SUBSISTEMA</a:t>
            </a:r>
          </a:p>
        </p:txBody>
      </p:sp>
      <p:sp>
        <p:nvSpPr>
          <p:cNvPr id="42" name="Oval 41"/>
          <p:cNvSpPr/>
          <p:nvPr/>
        </p:nvSpPr>
        <p:spPr>
          <a:xfrm>
            <a:off x="1202436" y="745236"/>
            <a:ext cx="68580" cy="68580"/>
          </a:xfrm>
          <a:prstGeom prst="ellipse">
            <a:avLst/>
          </a:prstGeom>
          <a:noFill/>
          <a:ln w="76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220724" y="813815"/>
            <a:ext cx="0" cy="22860"/>
          </a:xfrm>
          <a:prstGeom prst="line">
            <a:avLst/>
          </a:prstGeom>
          <a:ln w="63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52728" y="813815"/>
            <a:ext cx="0" cy="22860"/>
          </a:xfrm>
          <a:prstGeom prst="line">
            <a:avLst/>
          </a:prstGeom>
          <a:ln w="63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211580" y="836675"/>
            <a:ext cx="50292" cy="36576"/>
          </a:xfrm>
          <a:prstGeom prst="rect">
            <a:avLst/>
          </a:prstGeom>
          <a:noFill/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4168" y="781812"/>
            <a:ext cx="9052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50">
                <a:solidFill>
                  <a:srgbClr val="CC0000"/>
                </a:solidFill>
                <a:latin typeface="Arial"/>
              </a:rPr>
              <a:t>GLOBO · EJECUTADO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304288" y="795528"/>
            <a:ext cx="132588" cy="0"/>
          </a:xfrm>
          <a:prstGeom prst="line">
            <a:avLst/>
          </a:prstGeom>
          <a:ln w="6350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293315" y="770839"/>
            <a:ext cx="45720" cy="45720"/>
          </a:xfrm>
          <a:prstGeom prst="ellipse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403043" y="770839"/>
            <a:ext cx="45720" cy="45720"/>
          </a:xfrm>
          <a:prstGeom prst="ellipse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809244"/>
            <a:ext cx="41148" cy="27432"/>
          </a:xfrm>
          <a:prstGeom prst="rect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78024" y="781812"/>
            <a:ext cx="9052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50">
                <a:solidFill>
                  <a:srgbClr val="7A7A7A"/>
                </a:solidFill>
                <a:latin typeface="Arial"/>
              </a:rPr>
              <a:t>DRON · SIGUIENTE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82035" y="763524"/>
            <a:ext cx="45720" cy="68580"/>
          </a:xfrm>
          <a:prstGeom prst="rect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38144" y="781812"/>
            <a:ext cx="36576" cy="32004"/>
          </a:xfrm>
          <a:prstGeom prst="rect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35070" y="781812"/>
            <a:ext cx="36576" cy="32004"/>
          </a:xfrm>
          <a:prstGeom prst="rect">
            <a:avLst/>
          </a:prstGeom>
          <a:noFill/>
          <a:ln w="635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504895" y="745236"/>
            <a:ext cx="0" cy="18288"/>
          </a:xfrm>
          <a:prstGeom prst="line">
            <a:avLst/>
          </a:prstGeom>
          <a:ln w="6350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611879" y="781812"/>
            <a:ext cx="9052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50">
                <a:solidFill>
                  <a:srgbClr val="7A7A7A"/>
                </a:solidFill>
                <a:latin typeface="Arial"/>
              </a:rPr>
              <a:t>NANOSATÉLITE · FALTA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" y="99669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Payload óptico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70432" y="95097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16152" y="9875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cámara y visión por computadora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04288" y="95097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50008" y="9875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cámara multiespectral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38144" y="95097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83863" y="9875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sensor calificado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127101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OBC y manejo de datos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70432" y="122529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16152" y="12618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stack embebido en vuelo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04288" y="122529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0008" y="12618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mismo stack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38144" y="122529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83863" y="12618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watchdog y tolerancia a fallos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" y="154533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EPS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70432" y="149961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16152" y="153619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diseño con COTS publicado 2025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04288" y="149961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50008" y="153619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mismo diseño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438144" y="149961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83863" y="153619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MPPT y protección latch-up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" y="181965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TT&amp;C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70432" y="177393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16152" y="181051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LoRa 915 MHz y antena UHF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04288" y="177393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50008" y="181051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enlace de servicio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38144" y="177393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83863" y="181051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UHF con licencia SIGET/IARU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" y="209397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Estructura y térmico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70432" y="204825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6152" y="208483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impresión 3D y análisis FEMM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04288" y="204825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50008" y="208483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soporte de cámara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38144" y="204825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83863" y="208483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vibración y termovacío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" y="236829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ADCS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70432" y="232257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16152" y="23591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no abordado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04288" y="232257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50008" y="23591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no aplica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38144" y="232257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83863" y="235915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requisito sin experiencia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" y="2642615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3A3A3A"/>
                </a:solidFill>
                <a:latin typeface="Arial"/>
              </a:rPr>
              <a:t>Segmento de tierra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70432" y="2596896"/>
            <a:ext cx="1078992" cy="23774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16152" y="26334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telemetría de vuelo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04288" y="2596896"/>
            <a:ext cx="1078992" cy="237744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50008" y="26334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3A3A3A"/>
                </a:solidFill>
                <a:latin typeface="Arial"/>
              </a:rPr>
              <a:t>ingesta y modelo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38144" y="2596896"/>
            <a:ext cx="10789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83863" y="2633472"/>
            <a:ext cx="98755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estación terrena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440" y="2926080"/>
            <a:ext cx="2148840" cy="128016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55448" y="2953512"/>
            <a:ext cx="20116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3A3A3A"/>
                </a:solidFill>
                <a:latin typeface="Arial"/>
              </a:rPr>
              <a:t>Rojo: demostrado en vuelo o en publicación arbitrada.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2926080"/>
            <a:ext cx="2185416" cy="12801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95728" y="2953512"/>
            <a:ext cx="20574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7A7A7A"/>
                </a:solidFill>
                <a:latin typeface="Arial"/>
              </a:rPr>
              <a:t>Blanco: no abordado. Toda la columna orbital está en blanco.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Brechas y dónde se resuelve cada una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86384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BRECHA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786384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ESTADO HOY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786384"/>
            <a:ext cx="15910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" b="1" spc="60">
                <a:solidFill>
                  <a:srgbClr val="7A7A7A"/>
                </a:solidFill>
                <a:latin typeface="Arial"/>
              </a:rPr>
              <a:t>DÓNDE SE RESUELVE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" y="950976"/>
            <a:ext cx="4425696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" y="950976"/>
            <a:ext cx="2743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10058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30000"/>
                </a:solidFill>
                <a:latin typeface="Arial"/>
              </a:rPr>
              <a:t>Control de actitud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10058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Ningún integrante ha trabajado en determinación ni control de actitud.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1005840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Formación dirigida y asesoría de una institución con vuelos previos.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" y="1335024"/>
            <a:ext cx="442569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" y="1335024"/>
            <a:ext cx="2743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" y="13898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30000"/>
                </a:solidFill>
                <a:latin typeface="Arial"/>
              </a:rPr>
              <a:t>Ensayo ambiental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13898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No existen cámara de termovacío ni mesa de vibración en el país.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1389888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Subcontratación regional o campaña en la institución socia.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1719072"/>
            <a:ext cx="4425696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1719072"/>
            <a:ext cx="2743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177393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30000"/>
                </a:solidFill>
                <a:latin typeface="Arial"/>
              </a:rPr>
              <a:t>Espectro radioeléctrico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177393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Sin trámite iniciado para operación orbital.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177393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SIGET en el país y coordinación de frecuencia con IARU.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2103120"/>
            <a:ext cx="4425696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" y="2103120"/>
            <a:ext cx="2743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" y="215798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30000"/>
                </a:solidFill>
                <a:latin typeface="Arial"/>
              </a:rPr>
              <a:t>Acceso a lanzamiento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21579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Sin vía propia ni acuerdo vigente.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215798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Programas de despliegue tipo KiboCUBE, de UNOOSA y JAXA.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" y="2487168"/>
            <a:ext cx="4425696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" y="2487168"/>
            <a:ext cx="2743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1168" y="254203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30000"/>
                </a:solidFill>
                <a:latin typeface="Arial"/>
              </a:rPr>
              <a:t>Dedicación del equipo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254203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Nadie a tiempo completo; sin horas asignadas.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6080" y="2542032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Reconocimiento de carga académica y asignación de tesistas.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" y="2926080"/>
            <a:ext cx="4425696" cy="14630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2962656"/>
            <a:ext cx="4206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0">
                <a:solidFill>
                  <a:srgbClr val="3A3A3A"/>
                </a:solidFill>
                <a:latin typeface="Arial"/>
              </a:rPr>
              <a:t>Ninguna de estas cinco brechas la cierra una empresa local de electrónica. Todas se cierran con formación, convenio o trámite.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Reglas de decisión del proyecto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86384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80">
                <a:solidFill>
                  <a:srgbClr val="CC0000"/>
                </a:solidFill>
                <a:latin typeface="Arial"/>
              </a:rPr>
              <a:t>CONDICIONES PARA ABRIR DISEÑO DE VUELO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" y="950976"/>
            <a:ext cx="2148840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1033272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0000"/>
                </a:solidFill>
                <a:latin typeface="Arial Narrow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1005840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Modelo validado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112471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resultados de dron y globo con error reportado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1335024"/>
            <a:ext cx="2148840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141732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0000"/>
                </a:solidFill>
                <a:latin typeface="Arial Narrow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1389888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Usuario comprometido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" y="1508760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una institución que declare por escrito que usará el dato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1719072"/>
            <a:ext cx="2148840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1801368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0000"/>
                </a:solidFill>
                <a:latin typeface="Arial Narrow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" y="1773936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Limitación cuantificada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" y="1892807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cobertura y revisita medidas, no supuestas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2103120"/>
            <a:ext cx="2148840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4592" y="2185415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0000"/>
                </a:solidFill>
                <a:latin typeface="Arial Narrow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" y="2157984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Socio con ensayos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" y="22768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acceso a vibración, termovacío y vía de lanzamiento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" y="2487168"/>
            <a:ext cx="2148840" cy="347472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" y="2569463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0000"/>
                </a:solidFill>
                <a:latin typeface="Arial Narrow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2542032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A3A3A"/>
                </a:solidFill>
                <a:latin typeface="Arial"/>
              </a:rPr>
              <a:t>Financiamiento multianual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" y="2660903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" b="0">
                <a:solidFill>
                  <a:srgbClr val="7A7A7A"/>
                </a:solidFill>
                <a:latin typeface="Arial"/>
              </a:rPr>
              <a:t>no renovable año a año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8296" y="786384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spc="80">
                <a:solidFill>
                  <a:srgbClr val="CC0000"/>
                </a:solidFill>
                <a:latin typeface="Arial"/>
              </a:rPr>
              <a:t>REGLA DE COLABORACIÓN CON TERCEROS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68296" y="950976"/>
            <a:ext cx="2148840" cy="822960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50592" y="101498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Se comparte lo que tiene interfaz especificable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50592" y="117043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Manufactura y mecanizado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Arnés y estructura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Equipo de soporte en tierra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7A7A7A"/>
                </a:solidFill>
                <a:latin typeface="Arial"/>
              </a:rPr>
              <a:t>Nodos de sensores en campo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68296" y="1847088"/>
            <a:ext cx="2148840" cy="822960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50592" y="1911095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A30000"/>
                </a:solidFill>
                <a:latin typeface="Arial"/>
              </a:rPr>
              <a:t>No se cede, en ningún caso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50592" y="2066543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Payload y computador principal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Documento de interfaces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Repositorio y software de vuelo</a:t>
            </a:r>
          </a:p>
          <a:p>
            <a:pPr algn="l">
              <a:lnSpc>
                <a:spcPct val="125000"/>
              </a:lnSpc>
            </a:pPr>
            <a:r>
              <a:rPr sz="520" b="0">
                <a:solidFill>
                  <a:srgbClr val="3A3A3A"/>
                </a:solidFill>
                <a:latin typeface="Arial"/>
              </a:rPr>
              <a:t>Datos y modelo calibrado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8296" y="27432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" b="0">
                <a:solidFill>
                  <a:srgbClr val="CC0000"/>
                </a:solidFill>
                <a:latin typeface="Arial"/>
              </a:rPr>
              <a:t>Quien controla el computador principal controla el cronograma y las interfaces. Quien tiene el payload tiene la autoría.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608195" cy="204470"/>
          </a:xfrm>
          <a:custGeom>
            <a:avLst/>
            <a:gdLst/>
            <a:ahLst/>
            <a:cxnLst/>
            <a:rect l="l" t="t" r="r" b="b"/>
            <a:pathLst>
              <a:path w="4608195" h="204470">
                <a:moveTo>
                  <a:pt x="4608004" y="0"/>
                </a:moveTo>
                <a:lnTo>
                  <a:pt x="0" y="0"/>
                </a:lnTo>
                <a:lnTo>
                  <a:pt x="0" y="203974"/>
                </a:lnTo>
                <a:lnTo>
                  <a:pt x="4608004" y="203974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20397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0" y="326288"/>
            <a:ext cx="4608195" cy="338554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0"/>
              </a:spcBef>
            </a:pPr>
            <a:r>
              <a:rPr lang="es-SV" sz="1700" spc="60">
                <a:solidFill>
                  <a:srgbClr val="CC0000"/>
                </a:solidFill>
                <a:latin typeface="Arial Narrow"/>
                <a:cs typeface="Arial Narrow"/>
              </a:rPr>
              <a:t>Fuentes verificadas</a:t>
            </a:r>
            <a:endParaRPr lang="es-SV" sz="17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8004" y="0"/>
                </a:moveTo>
                <a:lnTo>
                  <a:pt x="0" y="0"/>
                </a:lnTo>
                <a:lnTo>
                  <a:pt x="0" y="122313"/>
                </a:lnTo>
                <a:lnTo>
                  <a:pt x="4608004" y="122313"/>
                </a:lnTo>
                <a:lnTo>
                  <a:pt x="4608004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300" y="3347568"/>
            <a:ext cx="146304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s-SV" sz="600" spc="-25">
                <a:solidFill>
                  <a:srgbClr val="0000FF"/>
                </a:solidFill>
                <a:latin typeface="Arial"/>
                <a:cs typeface="Arial"/>
              </a:rPr>
              <a:t>EOHAB · Ruta al nanosatélite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/>
              <a:t>Observatorio</a:t>
            </a:r>
            <a:r>
              <a:rPr spc="70"/>
              <a:t> </a:t>
            </a:r>
            <a:r>
              <a:t>Micro-Macro</a:t>
            </a:r>
            <a:r>
              <a:rPr spc="75"/>
              <a:t> </a:t>
            </a:r>
            <a:r>
              <a:rPr spc="-10"/>
              <a:t>(OMM)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45061DD0-22FF-D344-2ACC-A8753356515E}"/>
              </a:ext>
            </a:extLst>
          </p:cNvPr>
          <p:cNvSpPr txBox="1"/>
          <p:nvPr/>
        </p:nvSpPr>
        <p:spPr>
          <a:xfrm>
            <a:off x="107999" y="25252"/>
            <a:ext cx="663639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s-SV" sz="600" spc="-1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EOHAB-1</a:t>
            </a:r>
            <a:endParaRPr sz="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41">
            <a:extLst>
              <a:ext uri="{FF2B5EF4-FFF2-40B4-BE49-F238E27FC236}">
                <a16:creationId xmlns:a16="http://schemas.microsoft.com/office/drawing/2014/main" id="{4EDC7740-8337-3A5D-5BFA-D69A61442C62}"/>
              </a:ext>
            </a:extLst>
          </p:cNvPr>
          <p:cNvSpPr txBox="1">
            <a:spLocks/>
          </p:cNvSpPr>
          <p:nvPr/>
        </p:nvSpPr>
        <p:spPr>
          <a:xfrm>
            <a:off x="3630259" y="53829"/>
            <a:ext cx="882827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s-SV" spc="-10"/>
              <a:t>Facultad de Aeronáutica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" y="822960"/>
            <a:ext cx="4425696" cy="310896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868680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868680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KiboCUBE · rondas y equipos seleccionados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987552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unoosa.org/oosa/en/ourwork/access2space4all/KiboCUBE/KiboCUBE_Rounds.html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868680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UNOOSA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1170432"/>
            <a:ext cx="442569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1216152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1216152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Selección de El Salvador y Tailandia, novena ronda · 10 jun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1335024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unis.unvienna.org/unis/en/pressrels/2026/unisos611.html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121615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UNIS Viena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" y="1517904"/>
            <a:ext cx="4425696" cy="310896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1563624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1563624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Comunicado sobre la novena ronda de KiboCUBE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1682496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global.jaxa.jp/press/2026/06/20260611-1_e.html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156362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JAXA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1865376"/>
            <a:ext cx="442569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1911095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" y="1911095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EPICS in IEEE · bases del programa, de $1,000 a $10,000, solo insumos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2029968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epics.ieee.org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39" y="1911095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IEEE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" y="2212848"/>
            <a:ext cx="4425696" cy="310896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2258568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2258568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EPICS in IEEE · convocatoria de octubre de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2377440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epics.ieee.org/october-2026-epics-in-ieee-call-for-proposals/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225856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IEEE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2560320"/>
            <a:ext cx="442569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2606039"/>
            <a:ext cx="164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C0000"/>
                </a:solidFill>
                <a:latin typeface="Arial Narrow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" y="260603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3A3A3A"/>
                </a:solidFill>
                <a:latin typeface="Arial"/>
              </a:rPr>
              <a:t>Observatorio Micro-Macro · sede institucional del proyecto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2724912"/>
            <a:ext cx="3291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7A7A7A"/>
                </a:solidFill>
                <a:latin typeface="Arial"/>
              </a:rPr>
              <a:t>omm.udb.edu.sv/omm/public/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49039" y="2606039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>
                <a:solidFill>
                  <a:srgbClr val="CC0000"/>
                </a:solidFill>
                <a:latin typeface="Arial"/>
              </a:rPr>
              <a:t>UDB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" y="2926080"/>
            <a:ext cx="4425696" cy="146304"/>
          </a:xfrm>
          <a:prstGeom prst="rect">
            <a:avLst/>
          </a:prstGeom>
          <a:solidFill>
            <a:srgbClr val="FBEAEA"/>
          </a:solidFill>
          <a:ln w="63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" y="2962656"/>
            <a:ext cx="4206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0">
                <a:solidFill>
                  <a:srgbClr val="3A3A3A"/>
                </a:solidFill>
                <a:latin typeface="Arial"/>
              </a:rPr>
              <a:t>Pendiente de confirmar antes de someter: requisitos de permiso de vuelo de dron y procedimiento de concesión de espectro.</a:t>
            </a:r>
          </a:p>
        </p:txBody>
      </p:sp>
    </p:spTree>
    <p:extLst>
      <p:ext uri="{BB962C8B-B14F-4D97-AF65-F5344CB8AC3E}">
        <p14:creationId xmlns:p14="http://schemas.microsoft.com/office/powerpoint/2010/main" val="251684169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08C79F60CAF941B9996F2B687161CD" ma:contentTypeVersion="17" ma:contentTypeDescription="Crear nuevo documento." ma:contentTypeScope="" ma:versionID="36c70fbbbee8dd5a9936b7a3fc1fe3a7">
  <xsd:schema xmlns:xsd="http://www.w3.org/2001/XMLSchema" xmlns:xs="http://www.w3.org/2001/XMLSchema" xmlns:p="http://schemas.microsoft.com/office/2006/metadata/properties" xmlns:ns2="6a8ee66f-2736-4627-913e-a15384a9a114" xmlns:ns3="6f0d66e9-5ac9-42da-ab1d-d9e6f3090e3c" targetNamespace="http://schemas.microsoft.com/office/2006/metadata/properties" ma:root="true" ma:fieldsID="edb1d6d1ec2babb13576babd7cd94a39" ns2:_="" ns3:_="">
    <xsd:import namespace="6a8ee66f-2736-4627-913e-a15384a9a114"/>
    <xsd:import namespace="6f0d66e9-5ac9-42da-ab1d-d9e6f3090e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BreveDescripci_x00f3_n" minOccurs="0"/>
                <xsd:element ref="ns2:Recomendadopara_x003a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8ee66f-2736-4627-913e-a15384a9a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03dd45f0-080d-4c7d-9822-5d6c68e243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BreveDescripci_x00f3_n" ma:index="23" nillable="true" ma:displayName="Breve Descripción" ma:format="Dropdown" ma:internalName="BreveDescripci_x00f3_n">
      <xsd:simpleType>
        <xsd:restriction base="dms:Note">
          <xsd:maxLength value="255"/>
        </xsd:restriction>
      </xsd:simpleType>
    </xsd:element>
    <xsd:element name="Recomendadopara_x003a_" ma:index="24" nillable="true" ma:displayName="Recomendado para:" ma:format="Dropdown" ma:internalName="Recomendadopara_x003a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structura"/>
                    <xsd:enumeration value="Energia"/>
                    <xsd:enumeration value="Comms"/>
                    <xsd:enumeration value="Electronica"/>
                    <xsd:enumeration value="Todos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d66e9-5ac9-42da-ab1d-d9e6f3090e3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1f85b75-5f65-4405-9240-06fab587c7d3}" ma:internalName="TaxCatchAll" ma:showField="CatchAllData" ma:web="6f0d66e9-5ac9-42da-ab1d-d9e6f3090e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8ee66f-2736-4627-913e-a15384a9a114">
      <Terms xmlns="http://schemas.microsoft.com/office/infopath/2007/PartnerControls"/>
    </lcf76f155ced4ddcb4097134ff3c332f>
    <TaxCatchAll xmlns="6f0d66e9-5ac9-42da-ab1d-d9e6f3090e3c" xsi:nil="true"/>
    <BreveDescripci_x00f3_n xmlns="6a8ee66f-2736-4627-913e-a15384a9a114" xsi:nil="true"/>
    <Recomendadopara_x003a_ xmlns="6a8ee66f-2736-4627-913e-a15384a9a114" xsi:nil="true"/>
  </documentManagement>
</p:properties>
</file>

<file path=customXml/itemProps1.xml><?xml version="1.0" encoding="utf-8"?>
<ds:datastoreItem xmlns:ds="http://schemas.openxmlformats.org/officeDocument/2006/customXml" ds:itemID="{9C47F933-735E-438C-8C83-F4F43B4C3510}">
  <ds:schemaRefs>
    <ds:schemaRef ds:uri="6a8ee66f-2736-4627-913e-a15384a9a114"/>
    <ds:schemaRef ds:uri="6f0d66e9-5ac9-42da-ab1d-d9e6f3090e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06F0FC-9F7D-46EB-864A-BCA9483E41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2F7174-5A2B-4CA1-8721-5F2DD253F198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6a8ee66f-2736-4627-913e-a15384a9a114"/>
    <ds:schemaRef ds:uri="http://schemas.microsoft.com/office/infopath/2007/PartnerControls"/>
    <ds:schemaRef ds:uri="6f0d66e9-5ac9-42da-ab1d-d9e6f3090e3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862</Words>
  <Application>Microsoft Office PowerPoint</Application>
  <PresentationFormat>Personalizado</PresentationFormat>
  <Paragraphs>240</Paragraphs>
  <Slides>35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5" baseType="lpstr">
      <vt:lpstr>Adobe Fan Heiti Std B</vt:lpstr>
      <vt:lpstr>Aptos</vt:lpstr>
      <vt:lpstr>Arial</vt:lpstr>
      <vt:lpstr>Arial Narrow</vt:lpstr>
      <vt:lpstr>Calibri</vt:lpstr>
      <vt:lpstr>Gill Sans MT</vt:lpstr>
      <vt:lpstr>Lucida Sans Unicode</vt:lpstr>
      <vt:lpstr>Space Odyssey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Proyectos de Investigación Aeroespaciales</dc:title>
  <dc:creator>Observatorio Micro-Macro (OMM)</dc:creator>
  <cp:lastModifiedBy>Josue Romeo Aldana Aguilar</cp:lastModifiedBy>
  <cp:revision>2</cp:revision>
  <dcterms:created xsi:type="dcterms:W3CDTF">2024-07-21T04:00:08Z</dcterms:created>
  <dcterms:modified xsi:type="dcterms:W3CDTF">2026-08-15T22:03:37Z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2024-07-21T00:00:00Z</vt:filetime>
  </property>
  <property fmtid="{D5CDD505-2E9C-101B-9397-08002B2CF9AE}" pid="5" name="ContentTypeId">
    <vt:lpwstr>0x010100D608C79F60CAF941B9996F2B687161CD</vt:lpwstr>
  </property>
  <property fmtid="{D5CDD505-2E9C-101B-9397-08002B2CF9AE}" pid="6" name="MediaServiceImageTags">
    <vt:lpwstr/>
  </property>
</Properties>
</file>